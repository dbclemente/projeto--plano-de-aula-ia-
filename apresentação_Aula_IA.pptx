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208747-B13D-4887-8B1D-BE289501DA12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0396C463-E52A-410B-84AD-DB10F7286D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Definição de Taxa de Variação</a:t>
          </a:r>
        </a:p>
      </dgm:t>
    </dgm:pt>
    <dgm:pt modelId="{87E991BF-BAF0-4665-8D80-23D1A3861502}" type="parTrans" cxnId="{7EF1ED86-4493-4E1B-A221-3F1EEFAD4F43}">
      <dgm:prSet/>
      <dgm:spPr/>
      <dgm:t>
        <a:bodyPr/>
        <a:lstStyle/>
        <a:p>
          <a:endParaRPr lang="pt-BR"/>
        </a:p>
      </dgm:t>
    </dgm:pt>
    <dgm:pt modelId="{E9CFF680-CBB1-46ED-95C5-8750D73A6B90}" type="sibTrans" cxnId="{7EF1ED86-4493-4E1B-A221-3F1EEFAD4F4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pt-BR"/>
        </a:p>
      </dgm:t>
    </dgm:pt>
    <dgm:pt modelId="{89704709-87E1-4327-A7E1-ED5FDF3ADDB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taxa de variação mostra como uma variável muda em relação à outra, destacando uma relação proporcional.</a:t>
          </a:r>
        </a:p>
      </dgm:t>
    </dgm:pt>
    <dgm:pt modelId="{6CA2353C-098D-4DA4-99E3-707D489877C1}" type="parTrans" cxnId="{BB86E9F7-070B-4F1B-A67E-F37F5FB71246}">
      <dgm:prSet/>
      <dgm:spPr/>
      <dgm:t>
        <a:bodyPr/>
        <a:lstStyle/>
        <a:p>
          <a:endParaRPr lang="pt-BR"/>
        </a:p>
      </dgm:t>
    </dgm:pt>
    <dgm:pt modelId="{639511AE-D878-4851-9EA5-FA80C0412EBF}" type="sibTrans" cxnId="{BB86E9F7-070B-4F1B-A67E-F37F5FB71246}">
      <dgm:prSet/>
      <dgm:spPr/>
      <dgm:t>
        <a:bodyPr/>
        <a:lstStyle/>
        <a:p>
          <a:endParaRPr lang="pt-BR"/>
        </a:p>
      </dgm:t>
    </dgm:pt>
    <dgm:pt modelId="{A13BB33F-769E-4671-BF08-0D8B922D7E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Exemplo Prático</a:t>
          </a:r>
        </a:p>
      </dgm:t>
    </dgm:pt>
    <dgm:pt modelId="{F37B59CF-A06F-4F28-969C-07AF2C6B7A2B}" type="parTrans" cxnId="{7FC83454-01AE-49F9-80F9-D9E3F95027F0}">
      <dgm:prSet/>
      <dgm:spPr/>
      <dgm:t>
        <a:bodyPr/>
        <a:lstStyle/>
        <a:p>
          <a:endParaRPr lang="pt-BR"/>
        </a:p>
      </dgm:t>
    </dgm:pt>
    <dgm:pt modelId="{F8A85E22-6079-4008-AB6D-8A8B7C464113}" type="sibTrans" cxnId="{7FC83454-01AE-49F9-80F9-D9E3F95027F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pt-BR"/>
        </a:p>
      </dgm:t>
    </dgm:pt>
    <dgm:pt modelId="{AF5F0C7D-47DA-425C-94D9-DD64A97A8C9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Se o combustível aumenta R$5 a cada 10 km, a taxa é de R$0,50 por km. Esse valor representa a mudança média por unidade.</a:t>
          </a:r>
        </a:p>
      </dgm:t>
    </dgm:pt>
    <dgm:pt modelId="{135B1485-BA1F-4F0A-9429-524970C85D4A}" type="parTrans" cxnId="{3F4BD6EF-D61F-493D-82DF-61297C93AA3C}">
      <dgm:prSet/>
      <dgm:spPr/>
      <dgm:t>
        <a:bodyPr/>
        <a:lstStyle/>
        <a:p>
          <a:endParaRPr lang="pt-BR"/>
        </a:p>
      </dgm:t>
    </dgm:pt>
    <dgm:pt modelId="{5CAA67D6-031C-4C12-A39A-0F7F2300ACD7}" type="sibTrans" cxnId="{3F4BD6EF-D61F-493D-82DF-61297C93AA3C}">
      <dgm:prSet/>
      <dgm:spPr/>
      <dgm:t>
        <a:bodyPr/>
        <a:lstStyle/>
        <a:p>
          <a:endParaRPr lang="pt-BR"/>
        </a:p>
      </dgm:t>
    </dgm:pt>
    <dgm:pt modelId="{79C2777A-E513-423F-9B7E-79525CC2A3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Inclinação da Reta no Gráfico</a:t>
          </a:r>
        </a:p>
      </dgm:t>
    </dgm:pt>
    <dgm:pt modelId="{F8DAFBDF-B8EA-40F2-AC3D-B6F00C721DBC}" type="parTrans" cxnId="{FE43DEAB-169B-40DD-913A-0EA7A325C67E}">
      <dgm:prSet/>
      <dgm:spPr/>
      <dgm:t>
        <a:bodyPr/>
        <a:lstStyle/>
        <a:p>
          <a:endParaRPr lang="pt-BR"/>
        </a:p>
      </dgm:t>
    </dgm:pt>
    <dgm:pt modelId="{8C96B0A8-0966-4675-AE31-25A0BECFC292}" type="sibTrans" cxnId="{FE43DEAB-169B-40DD-913A-0EA7A325C67E}">
      <dgm:prSet/>
      <dgm:spPr/>
      <dgm:t>
        <a:bodyPr/>
        <a:lstStyle/>
        <a:p>
          <a:endParaRPr lang="pt-BR"/>
        </a:p>
      </dgm:t>
    </dgm:pt>
    <dgm:pt modelId="{075478E3-AE2F-47EE-AB44-6E2429BAA84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No gráfico, a taxa de variação é representada pela inclinação da reta, mostrando o ritmo da mudança.</a:t>
          </a:r>
        </a:p>
      </dgm:t>
    </dgm:pt>
    <dgm:pt modelId="{A7308924-613C-445F-8CA7-309F7129CE93}" type="parTrans" cxnId="{CFF9B982-9ED2-43A7-8C94-68024167639C}">
      <dgm:prSet/>
      <dgm:spPr/>
      <dgm:t>
        <a:bodyPr/>
        <a:lstStyle/>
        <a:p>
          <a:endParaRPr lang="pt-BR"/>
        </a:p>
      </dgm:t>
    </dgm:pt>
    <dgm:pt modelId="{81ACDC2F-CE23-4696-8C76-45E8B7369C65}" type="sibTrans" cxnId="{CFF9B982-9ED2-43A7-8C94-68024167639C}">
      <dgm:prSet/>
      <dgm:spPr/>
      <dgm:t>
        <a:bodyPr/>
        <a:lstStyle/>
        <a:p>
          <a:endParaRPr lang="pt-BR"/>
        </a:p>
      </dgm:t>
    </dgm:pt>
    <dgm:pt modelId="{87A59E49-0279-4674-ADF6-07E0FF9BED07}" type="pres">
      <dgm:prSet presAssocID="{37208747-B13D-4887-8B1D-BE289501DA12}" presName="Root" presStyleCnt="0">
        <dgm:presLayoutVars>
          <dgm:dir/>
          <dgm:resizeHandles val="exact"/>
        </dgm:presLayoutVars>
      </dgm:prSet>
      <dgm:spPr/>
    </dgm:pt>
    <dgm:pt modelId="{D30D5632-3037-43B2-9AA8-45BE34037587}" type="pres">
      <dgm:prSet presAssocID="{0396C463-E52A-410B-84AD-DB10F7286DE9}" presName="Composite" presStyleCnt="0"/>
      <dgm:spPr/>
    </dgm:pt>
    <dgm:pt modelId="{EB7B4446-E103-4FA8-BD98-76F294739BC3}" type="pres">
      <dgm:prSet presAssocID="{0396C463-E52A-410B-84AD-DB10F7286DE9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r="4093" b="8"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Conceito de escolha: setas recortadas projetando sombra sobre papel vermelho e azul"/>
        </a:ext>
      </dgm:extLst>
    </dgm:pt>
    <dgm:pt modelId="{CD881804-215E-4DE5-AADA-DE7A5C25FEFF}" type="pres">
      <dgm:prSet presAssocID="{0396C463-E52A-410B-84AD-DB10F7286DE9}" presName="Subtitle" presStyleLbl="revTx" presStyleIdx="0" presStyleCnt="6">
        <dgm:presLayoutVars>
          <dgm:chMax val="0"/>
          <dgm:bulletEnabled/>
        </dgm:presLayoutVars>
      </dgm:prSet>
      <dgm:spPr/>
    </dgm:pt>
    <dgm:pt modelId="{8254DB17-A633-4C09-B4E1-E97A4EE439FF}" type="pres">
      <dgm:prSet presAssocID="{0396C463-E52A-410B-84AD-DB10F7286DE9}" presName="Description" presStyleLbl="revTx" presStyleIdx="1" presStyleCnt="6">
        <dgm:presLayoutVars>
          <dgm:bulletEnabled/>
        </dgm:presLayoutVars>
      </dgm:prSet>
      <dgm:spPr/>
    </dgm:pt>
    <dgm:pt modelId="{C787676A-036A-426D-AAE7-F310FE6FBF99}" type="pres">
      <dgm:prSet presAssocID="{E9CFF680-CBB1-46ED-95C5-8750D73A6B90}" presName="sibTrans" presStyleLbl="sibTrans2D1" presStyleIdx="0" presStyleCnt="0"/>
      <dgm:spPr/>
    </dgm:pt>
    <dgm:pt modelId="{79C2AE17-E052-4060-A7A7-35DDD462BA5D}" type="pres">
      <dgm:prSet presAssocID="{A13BB33F-769E-4671-BF08-0D8B922D7EB8}" presName="Composite" presStyleCnt="0"/>
      <dgm:spPr/>
    </dgm:pt>
    <dgm:pt modelId="{02E2ED2C-6F45-41B7-9FF6-87F39182EFEC}" type="pres">
      <dgm:prSet presAssocID="{A13BB33F-769E-4671-BF08-0D8B922D7EB8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" r="-5" b="20285"/>
          <a:stretch>
            <a:fillRect t="-17000" b="-17000"/>
          </a:stretch>
        </a:blipFill>
      </dgm:spPr>
      <dgm:extLst>
        <a:ext uri="{E40237B7-FDA0-4F09-8148-C483321AD2D9}">
          <dgm14:cNvPr xmlns:dgm14="http://schemas.microsoft.com/office/drawing/2010/diagram" id="0" name="" descr="bocal de combustível amarrado em nó com gota de gasolina"/>
        </a:ext>
      </dgm:extLst>
    </dgm:pt>
    <dgm:pt modelId="{64CA2053-711C-4D4D-BE07-E5086ABF847B}" type="pres">
      <dgm:prSet presAssocID="{A13BB33F-769E-4671-BF08-0D8B922D7EB8}" presName="Subtitle" presStyleLbl="revTx" presStyleIdx="2" presStyleCnt="6">
        <dgm:presLayoutVars>
          <dgm:chMax val="0"/>
          <dgm:bulletEnabled/>
        </dgm:presLayoutVars>
      </dgm:prSet>
      <dgm:spPr/>
    </dgm:pt>
    <dgm:pt modelId="{BB64617D-64A2-41DD-B11A-1C26D454BEA6}" type="pres">
      <dgm:prSet presAssocID="{A13BB33F-769E-4671-BF08-0D8B922D7EB8}" presName="Description" presStyleLbl="revTx" presStyleIdx="3" presStyleCnt="6">
        <dgm:presLayoutVars>
          <dgm:bulletEnabled/>
        </dgm:presLayoutVars>
      </dgm:prSet>
      <dgm:spPr/>
    </dgm:pt>
    <dgm:pt modelId="{B0FD30C2-DB20-4724-91B9-49F19D2983F1}" type="pres">
      <dgm:prSet presAssocID="{F8A85E22-6079-4008-AB6D-8A8B7C464113}" presName="sibTrans" presStyleLbl="sibTrans2D1" presStyleIdx="0" presStyleCnt="0"/>
      <dgm:spPr/>
    </dgm:pt>
    <dgm:pt modelId="{6381376E-00EF-4A5D-9EE9-8451424B0032}" type="pres">
      <dgm:prSet presAssocID="{79C2777A-E513-423F-9B7E-79525CC2A38D}" presName="Composite" presStyleCnt="0"/>
      <dgm:spPr/>
    </dgm:pt>
    <dgm:pt modelId="{118EED17-2271-45B7-8606-0B90259337F3}" type="pres">
      <dgm:prSet presAssocID="{79C2777A-E513-423F-9B7E-79525CC2A38D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0" r="1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Nonograma (também chamado de 'Pintar por números', 'Palavras cruzadas japonesas', 'Escolher uma caixa', 'Quadrado lógico')"/>
        </a:ext>
      </dgm:extLst>
    </dgm:pt>
    <dgm:pt modelId="{7114BB28-C0D3-4816-843B-894504BD20FB}" type="pres">
      <dgm:prSet presAssocID="{79C2777A-E513-423F-9B7E-79525CC2A38D}" presName="Subtitle" presStyleLbl="revTx" presStyleIdx="4" presStyleCnt="6">
        <dgm:presLayoutVars>
          <dgm:chMax val="0"/>
          <dgm:bulletEnabled/>
        </dgm:presLayoutVars>
      </dgm:prSet>
      <dgm:spPr/>
    </dgm:pt>
    <dgm:pt modelId="{A71BB6D6-8122-4C97-B01B-C6A3ECBB0A37}" type="pres">
      <dgm:prSet presAssocID="{79C2777A-E513-423F-9B7E-79525CC2A38D}" presName="Description" presStyleLbl="revTx" presStyleIdx="5" presStyleCnt="6">
        <dgm:presLayoutVars>
          <dgm:bulletEnabled/>
        </dgm:presLayoutVars>
      </dgm:prSet>
      <dgm:spPr/>
    </dgm:pt>
  </dgm:ptLst>
  <dgm:cxnLst>
    <dgm:cxn modelId="{C107E606-6202-47A1-8392-9E68161F9A30}" type="presOf" srcId="{89704709-87E1-4327-A7E1-ED5FDF3ADDBE}" destId="{8254DB17-A633-4C09-B4E1-E97A4EE439FF}" srcOrd="0" destOrd="0" presId="urn:microsoft.com/office/officeart/2024/3/layout/verticalVisualTextBlock1"/>
    <dgm:cxn modelId="{A7F3D51E-F1B4-4785-9EDE-B002B2A65D4F}" type="presOf" srcId="{075478E3-AE2F-47EE-AB44-6E2429BAA849}" destId="{A71BB6D6-8122-4C97-B01B-C6A3ECBB0A37}" srcOrd="0" destOrd="0" presId="urn:microsoft.com/office/officeart/2024/3/layout/verticalVisualTextBlock1"/>
    <dgm:cxn modelId="{DDD5C528-77B7-4C22-BA69-E0B8338E3D31}" type="presOf" srcId="{79C2777A-E513-423F-9B7E-79525CC2A38D}" destId="{7114BB28-C0D3-4816-843B-894504BD20FB}" srcOrd="0" destOrd="0" presId="urn:microsoft.com/office/officeart/2024/3/layout/verticalVisualTextBlock1"/>
    <dgm:cxn modelId="{16792D2E-78A4-47CA-9309-B23D919937B9}" type="presOf" srcId="{37208747-B13D-4887-8B1D-BE289501DA12}" destId="{87A59E49-0279-4674-ADF6-07E0FF9BED07}" srcOrd="0" destOrd="0" presId="urn:microsoft.com/office/officeart/2024/3/layout/verticalVisualTextBlock1"/>
    <dgm:cxn modelId="{234AA62F-07E2-4AB8-ABFF-98DBD03BB651}" type="presOf" srcId="{AF5F0C7D-47DA-425C-94D9-DD64A97A8C9D}" destId="{BB64617D-64A2-41DD-B11A-1C26D454BEA6}" srcOrd="0" destOrd="0" presId="urn:microsoft.com/office/officeart/2024/3/layout/verticalVisualTextBlock1"/>
    <dgm:cxn modelId="{7FC83454-01AE-49F9-80F9-D9E3F95027F0}" srcId="{37208747-B13D-4887-8B1D-BE289501DA12}" destId="{A13BB33F-769E-4671-BF08-0D8B922D7EB8}" srcOrd="1" destOrd="0" parTransId="{F37B59CF-A06F-4F28-969C-07AF2C6B7A2B}" sibTransId="{F8A85E22-6079-4008-AB6D-8A8B7C464113}"/>
    <dgm:cxn modelId="{56BCBE75-EF33-4A85-AADF-84CE42E8433A}" type="presOf" srcId="{0396C463-E52A-410B-84AD-DB10F7286DE9}" destId="{CD881804-215E-4DE5-AADA-DE7A5C25FEFF}" srcOrd="0" destOrd="0" presId="urn:microsoft.com/office/officeart/2024/3/layout/verticalVisualTextBlock1"/>
    <dgm:cxn modelId="{F2C77F7B-8C8D-4A6C-ABC3-42CEC080D096}" type="presOf" srcId="{F8A85E22-6079-4008-AB6D-8A8B7C464113}" destId="{B0FD30C2-DB20-4724-91B9-49F19D2983F1}" srcOrd="0" destOrd="0" presId="urn:microsoft.com/office/officeart/2024/3/layout/verticalVisualTextBlock1"/>
    <dgm:cxn modelId="{CFF9B982-9ED2-43A7-8C94-68024167639C}" srcId="{79C2777A-E513-423F-9B7E-79525CC2A38D}" destId="{075478E3-AE2F-47EE-AB44-6E2429BAA849}" srcOrd="0" destOrd="0" parTransId="{A7308924-613C-445F-8CA7-309F7129CE93}" sibTransId="{81ACDC2F-CE23-4696-8C76-45E8B7369C65}"/>
    <dgm:cxn modelId="{7EF1ED86-4493-4E1B-A221-3F1EEFAD4F43}" srcId="{37208747-B13D-4887-8B1D-BE289501DA12}" destId="{0396C463-E52A-410B-84AD-DB10F7286DE9}" srcOrd="0" destOrd="0" parTransId="{87E991BF-BAF0-4665-8D80-23D1A3861502}" sibTransId="{E9CFF680-CBB1-46ED-95C5-8750D73A6B90}"/>
    <dgm:cxn modelId="{19370394-E9F0-4A49-BF78-CBB1A18BA428}" type="presOf" srcId="{A13BB33F-769E-4671-BF08-0D8B922D7EB8}" destId="{64CA2053-711C-4D4D-BE07-E5086ABF847B}" srcOrd="0" destOrd="0" presId="urn:microsoft.com/office/officeart/2024/3/layout/verticalVisualTextBlock1"/>
    <dgm:cxn modelId="{FE43DEAB-169B-40DD-913A-0EA7A325C67E}" srcId="{37208747-B13D-4887-8B1D-BE289501DA12}" destId="{79C2777A-E513-423F-9B7E-79525CC2A38D}" srcOrd="2" destOrd="0" parTransId="{F8DAFBDF-B8EA-40F2-AC3D-B6F00C721DBC}" sibTransId="{8C96B0A8-0966-4675-AE31-25A0BECFC292}"/>
    <dgm:cxn modelId="{DA0BA7EB-84B7-4515-A65C-78065A47D9D0}" type="presOf" srcId="{E9CFF680-CBB1-46ED-95C5-8750D73A6B90}" destId="{C787676A-036A-426D-AAE7-F310FE6FBF99}" srcOrd="0" destOrd="0" presId="urn:microsoft.com/office/officeart/2024/3/layout/verticalVisualTextBlock1"/>
    <dgm:cxn modelId="{3F4BD6EF-D61F-493D-82DF-61297C93AA3C}" srcId="{A13BB33F-769E-4671-BF08-0D8B922D7EB8}" destId="{AF5F0C7D-47DA-425C-94D9-DD64A97A8C9D}" srcOrd="0" destOrd="0" parTransId="{135B1485-BA1F-4F0A-9429-524970C85D4A}" sibTransId="{5CAA67D6-031C-4C12-A39A-0F7F2300ACD7}"/>
    <dgm:cxn modelId="{BB86E9F7-070B-4F1B-A67E-F37F5FB71246}" srcId="{0396C463-E52A-410B-84AD-DB10F7286DE9}" destId="{89704709-87E1-4327-A7E1-ED5FDF3ADDBE}" srcOrd="0" destOrd="0" parTransId="{6CA2353C-098D-4DA4-99E3-707D489877C1}" sibTransId="{639511AE-D878-4851-9EA5-FA80C0412EBF}"/>
    <dgm:cxn modelId="{1BE84295-741A-4C52-8F7A-1894B1EBA33A}" type="presParOf" srcId="{87A59E49-0279-4674-ADF6-07E0FF9BED07}" destId="{D30D5632-3037-43B2-9AA8-45BE34037587}" srcOrd="0" destOrd="0" presId="urn:microsoft.com/office/officeart/2024/3/layout/verticalVisualTextBlock1"/>
    <dgm:cxn modelId="{FD63B602-3884-47C6-9524-6FD00C2752C2}" type="presParOf" srcId="{D30D5632-3037-43B2-9AA8-45BE34037587}" destId="{EB7B4446-E103-4FA8-BD98-76F294739BC3}" srcOrd="0" destOrd="0" presId="urn:microsoft.com/office/officeart/2024/3/layout/verticalVisualTextBlock1"/>
    <dgm:cxn modelId="{25FDA857-B793-471E-82CB-8F9CF9E31F85}" type="presParOf" srcId="{D30D5632-3037-43B2-9AA8-45BE34037587}" destId="{CD881804-215E-4DE5-AADA-DE7A5C25FEFF}" srcOrd="1" destOrd="0" presId="urn:microsoft.com/office/officeart/2024/3/layout/verticalVisualTextBlock1"/>
    <dgm:cxn modelId="{9B72DE2B-2619-47BA-B3C1-977AABC75758}" type="presParOf" srcId="{D30D5632-3037-43B2-9AA8-45BE34037587}" destId="{8254DB17-A633-4C09-B4E1-E97A4EE439FF}" srcOrd="2" destOrd="0" presId="urn:microsoft.com/office/officeart/2024/3/layout/verticalVisualTextBlock1"/>
    <dgm:cxn modelId="{EBCEE655-A322-4905-96C5-4159B5C250B4}" type="presParOf" srcId="{87A59E49-0279-4674-ADF6-07E0FF9BED07}" destId="{C787676A-036A-426D-AAE7-F310FE6FBF99}" srcOrd="1" destOrd="0" presId="urn:microsoft.com/office/officeart/2024/3/layout/verticalVisualTextBlock1"/>
    <dgm:cxn modelId="{C2D983A7-E623-4208-A1E5-C7D8B030195C}" type="presParOf" srcId="{87A59E49-0279-4674-ADF6-07E0FF9BED07}" destId="{79C2AE17-E052-4060-A7A7-35DDD462BA5D}" srcOrd="2" destOrd="0" presId="urn:microsoft.com/office/officeart/2024/3/layout/verticalVisualTextBlock1"/>
    <dgm:cxn modelId="{FE269F46-BE86-46A1-9688-BF26E7B88ACB}" type="presParOf" srcId="{79C2AE17-E052-4060-A7A7-35DDD462BA5D}" destId="{02E2ED2C-6F45-41B7-9FF6-87F39182EFEC}" srcOrd="0" destOrd="0" presId="urn:microsoft.com/office/officeart/2024/3/layout/verticalVisualTextBlock1"/>
    <dgm:cxn modelId="{0D7ADA75-E72C-4A3A-9D94-DB5BAC1A36D3}" type="presParOf" srcId="{79C2AE17-E052-4060-A7A7-35DDD462BA5D}" destId="{64CA2053-711C-4D4D-BE07-E5086ABF847B}" srcOrd="1" destOrd="0" presId="urn:microsoft.com/office/officeart/2024/3/layout/verticalVisualTextBlock1"/>
    <dgm:cxn modelId="{7D1453A1-FDF7-4BE4-9BA9-2C04248E6EEE}" type="presParOf" srcId="{79C2AE17-E052-4060-A7A7-35DDD462BA5D}" destId="{BB64617D-64A2-41DD-B11A-1C26D454BEA6}" srcOrd="2" destOrd="0" presId="urn:microsoft.com/office/officeart/2024/3/layout/verticalVisualTextBlock1"/>
    <dgm:cxn modelId="{2751C266-4227-41A0-803B-BA9684E3B484}" type="presParOf" srcId="{87A59E49-0279-4674-ADF6-07E0FF9BED07}" destId="{B0FD30C2-DB20-4724-91B9-49F19D2983F1}" srcOrd="3" destOrd="0" presId="urn:microsoft.com/office/officeart/2024/3/layout/verticalVisualTextBlock1"/>
    <dgm:cxn modelId="{F8EE5428-895E-46B2-860F-C73B415D3C78}" type="presParOf" srcId="{87A59E49-0279-4674-ADF6-07E0FF9BED07}" destId="{6381376E-00EF-4A5D-9EE9-8451424B0032}" srcOrd="4" destOrd="0" presId="urn:microsoft.com/office/officeart/2024/3/layout/verticalVisualTextBlock1"/>
    <dgm:cxn modelId="{D8BF908A-0310-4720-8BF2-B936463D95C8}" type="presParOf" srcId="{6381376E-00EF-4A5D-9EE9-8451424B0032}" destId="{118EED17-2271-45B7-8606-0B90259337F3}" srcOrd="0" destOrd="0" presId="urn:microsoft.com/office/officeart/2024/3/layout/verticalVisualTextBlock1"/>
    <dgm:cxn modelId="{4BF5DACF-1110-4D99-9D24-051C881B1571}" type="presParOf" srcId="{6381376E-00EF-4A5D-9EE9-8451424B0032}" destId="{7114BB28-C0D3-4816-843B-894504BD20FB}" srcOrd="1" destOrd="0" presId="urn:microsoft.com/office/officeart/2024/3/layout/verticalVisualTextBlock1"/>
    <dgm:cxn modelId="{EC9F770D-D683-4375-8458-432416C7CC2F}" type="presParOf" srcId="{6381376E-00EF-4A5D-9EE9-8451424B0032}" destId="{A71BB6D6-8122-4C97-B01B-C6A3ECBB0A37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454DF0-D74D-47B1-BB7D-2F0FC25C5F46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35A36375-31D9-424E-98DE-957709F06749}">
      <dgm:prSet/>
      <dgm:spPr/>
      <dgm:t>
        <a:bodyPr/>
        <a:lstStyle/>
        <a:p>
          <a:pPr>
            <a:defRPr b="1"/>
          </a:pPr>
          <a:r>
            <a:rPr lang="pt-BR"/>
            <a:t>Definição de Valor Fixo</a:t>
          </a:r>
        </a:p>
      </dgm:t>
    </dgm:pt>
    <dgm:pt modelId="{8FD95270-9075-4FE3-8C15-C1526E8341B5}" type="parTrans" cxnId="{55A842C8-6411-4C80-8FAE-65D6F13254DC}">
      <dgm:prSet/>
      <dgm:spPr/>
      <dgm:t>
        <a:bodyPr/>
        <a:lstStyle/>
        <a:p>
          <a:endParaRPr lang="pt-BR"/>
        </a:p>
      </dgm:t>
    </dgm:pt>
    <dgm:pt modelId="{FB0E072F-31C2-4FB1-BE8D-6F845BF088DA}" type="sibTrans" cxnId="{55A842C8-6411-4C80-8FAE-65D6F13254DC}">
      <dgm:prSet/>
      <dgm:spPr/>
      <dgm:t>
        <a:bodyPr/>
        <a:lstStyle/>
        <a:p>
          <a:pPr>
            <a:defRPr b="1"/>
          </a:pPr>
          <a:endParaRPr lang="pt-BR"/>
        </a:p>
      </dgm:t>
    </dgm:pt>
    <dgm:pt modelId="{18AE03BF-952E-4C43-A0A6-A8318301C5DF}">
      <dgm:prSet/>
      <dgm:spPr/>
      <dgm:t>
        <a:bodyPr/>
        <a:lstStyle/>
        <a:p>
          <a:r>
            <a:rPr lang="pt-BR"/>
            <a:t>O valor fixo é o termo constante da função, representando o resultado quando x é igual a zero.</a:t>
          </a:r>
        </a:p>
      </dgm:t>
    </dgm:pt>
    <dgm:pt modelId="{9FB4EDDA-6A5C-42D7-9C8A-D3210E6EA423}" type="parTrans" cxnId="{0B33535B-83B9-4D83-9DCE-3BAC44F5A96A}">
      <dgm:prSet/>
      <dgm:spPr/>
      <dgm:t>
        <a:bodyPr/>
        <a:lstStyle/>
        <a:p>
          <a:endParaRPr lang="pt-BR"/>
        </a:p>
      </dgm:t>
    </dgm:pt>
    <dgm:pt modelId="{60D709B4-58C4-47F3-BEF8-8E8507620C76}" type="sibTrans" cxnId="{0B33535B-83B9-4D83-9DCE-3BAC44F5A96A}">
      <dgm:prSet/>
      <dgm:spPr/>
      <dgm:t>
        <a:bodyPr/>
        <a:lstStyle/>
        <a:p>
          <a:endParaRPr lang="pt-BR"/>
        </a:p>
      </dgm:t>
    </dgm:pt>
    <dgm:pt modelId="{0D9494A0-C462-460B-8879-BF40229EF2A9}">
      <dgm:prSet/>
      <dgm:spPr/>
      <dgm:t>
        <a:bodyPr/>
        <a:lstStyle/>
        <a:p>
          <a:pPr>
            <a:defRPr b="1"/>
          </a:pPr>
          <a:r>
            <a:rPr lang="pt-BR"/>
            <a:t>Exemplo Prático</a:t>
          </a:r>
        </a:p>
      </dgm:t>
    </dgm:pt>
    <dgm:pt modelId="{7D1434E2-F952-4181-875E-6F17BF0C5E10}" type="parTrans" cxnId="{08111132-FD8C-4A66-9DEC-C6E64DAAF536}">
      <dgm:prSet/>
      <dgm:spPr/>
      <dgm:t>
        <a:bodyPr/>
        <a:lstStyle/>
        <a:p>
          <a:endParaRPr lang="pt-BR"/>
        </a:p>
      </dgm:t>
    </dgm:pt>
    <dgm:pt modelId="{B5FFDC01-EEFC-41A7-A3EF-779933BE3A23}" type="sibTrans" cxnId="{08111132-FD8C-4A66-9DEC-C6E64DAAF536}">
      <dgm:prSet/>
      <dgm:spPr/>
      <dgm:t>
        <a:bodyPr/>
        <a:lstStyle/>
        <a:p>
          <a:pPr>
            <a:defRPr b="1"/>
          </a:pPr>
          <a:endParaRPr lang="pt-BR"/>
        </a:p>
      </dgm:t>
    </dgm:pt>
    <dgm:pt modelId="{0A5A693A-AF09-4BC9-91E5-F31DE8D8B566}">
      <dgm:prSet/>
      <dgm:spPr/>
      <dgm:t>
        <a:bodyPr/>
        <a:lstStyle/>
        <a:p>
          <a:r>
            <a:rPr lang="pt-BR"/>
            <a:t>Em contas telefônicas, existe uma taxa mensal fixa além do valor variável pelo uso.</a:t>
          </a:r>
        </a:p>
      </dgm:t>
    </dgm:pt>
    <dgm:pt modelId="{72D44FC4-3924-4738-A9C4-906DFB9382A8}" type="parTrans" cxnId="{D3C2EDB8-912A-45B8-9199-1FCE6EA9AF1A}">
      <dgm:prSet/>
      <dgm:spPr/>
      <dgm:t>
        <a:bodyPr/>
        <a:lstStyle/>
        <a:p>
          <a:endParaRPr lang="pt-BR"/>
        </a:p>
      </dgm:t>
    </dgm:pt>
    <dgm:pt modelId="{FB9E0B05-0E7C-48D6-AB32-4488421330F7}" type="sibTrans" cxnId="{D3C2EDB8-912A-45B8-9199-1FCE6EA9AF1A}">
      <dgm:prSet/>
      <dgm:spPr/>
      <dgm:t>
        <a:bodyPr/>
        <a:lstStyle/>
        <a:p>
          <a:endParaRPr lang="pt-BR"/>
        </a:p>
      </dgm:t>
    </dgm:pt>
    <dgm:pt modelId="{8AC62050-4352-4B05-BCF0-780D79C44D07}">
      <dgm:prSet/>
      <dgm:spPr/>
      <dgm:t>
        <a:bodyPr/>
        <a:lstStyle/>
        <a:p>
          <a:pPr>
            <a:defRPr b="1"/>
          </a:pPr>
          <a:r>
            <a:rPr lang="pt-BR"/>
            <a:t>Interpretação no Gráfico</a:t>
          </a:r>
        </a:p>
      </dgm:t>
    </dgm:pt>
    <dgm:pt modelId="{24EC75A1-5255-4E0F-8FE4-4BEDD09B3AE5}" type="parTrans" cxnId="{CF8F364B-32CE-4ACB-A44C-72E070A1E13A}">
      <dgm:prSet/>
      <dgm:spPr/>
      <dgm:t>
        <a:bodyPr/>
        <a:lstStyle/>
        <a:p>
          <a:endParaRPr lang="pt-BR"/>
        </a:p>
      </dgm:t>
    </dgm:pt>
    <dgm:pt modelId="{65D57E70-EC59-4EFE-83F2-BBC6A8D2CC49}" type="sibTrans" cxnId="{CF8F364B-32CE-4ACB-A44C-72E070A1E13A}">
      <dgm:prSet/>
      <dgm:spPr/>
      <dgm:t>
        <a:bodyPr/>
        <a:lstStyle/>
        <a:p>
          <a:endParaRPr lang="pt-BR"/>
        </a:p>
      </dgm:t>
    </dgm:pt>
    <dgm:pt modelId="{6CEF6C6C-6E83-4488-8F61-A5EDB9CFFC40}">
      <dgm:prSet/>
      <dgm:spPr/>
      <dgm:t>
        <a:bodyPr/>
        <a:lstStyle/>
        <a:p>
          <a:r>
            <a:rPr lang="pt-BR"/>
            <a:t>No gráfico, o valor fixo aparece onde a reta cruza o eixo y, indicando o intercepto.</a:t>
          </a:r>
        </a:p>
      </dgm:t>
    </dgm:pt>
    <dgm:pt modelId="{63C2008C-3BD7-4C0A-B578-82785AE39776}" type="parTrans" cxnId="{8A45F6F1-7493-4845-BB66-B7C29110629C}">
      <dgm:prSet/>
      <dgm:spPr/>
      <dgm:t>
        <a:bodyPr/>
        <a:lstStyle/>
        <a:p>
          <a:endParaRPr lang="pt-BR"/>
        </a:p>
      </dgm:t>
    </dgm:pt>
    <dgm:pt modelId="{4244E457-6AD6-4B25-A8AE-7BD7D92E5A7F}" type="sibTrans" cxnId="{8A45F6F1-7493-4845-BB66-B7C29110629C}">
      <dgm:prSet/>
      <dgm:spPr/>
      <dgm:t>
        <a:bodyPr/>
        <a:lstStyle/>
        <a:p>
          <a:endParaRPr lang="pt-BR"/>
        </a:p>
      </dgm:t>
    </dgm:pt>
    <dgm:pt modelId="{396653E3-6551-4A22-90CE-0CEBEDF2048F}" type="pres">
      <dgm:prSet presAssocID="{12454DF0-D74D-47B1-BB7D-2F0FC25C5F46}" presName="Root" presStyleCnt="0">
        <dgm:presLayoutVars>
          <dgm:dir/>
          <dgm:resizeHandles val="exact"/>
        </dgm:presLayoutVars>
      </dgm:prSet>
      <dgm:spPr/>
    </dgm:pt>
    <dgm:pt modelId="{9603C698-D3EB-410E-99B8-C0373F7C5D84}" type="pres">
      <dgm:prSet presAssocID="{35A36375-31D9-424E-98DE-957709F06749}" presName="Composite" presStyleCnt="0"/>
      <dgm:spPr/>
    </dgm:pt>
    <dgm:pt modelId="{26A417F8-0A78-475F-BF52-86A367080366}" type="pres">
      <dgm:prSet presAssocID="{35A36375-31D9-424E-98DE-957709F06749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7" r="33120" b="-6"/>
          <a:stretch>
            <a:fillRect l="-39000" r="-39000"/>
          </a:stretch>
        </a:blipFill>
      </dgm:spPr>
    </dgm:pt>
    <dgm:pt modelId="{F0498FBC-FD11-4447-AB8A-76DC52CC4B29}" type="pres">
      <dgm:prSet presAssocID="{35A36375-31D9-424E-98DE-957709F06749}" presName="Subtitle" presStyleLbl="revTx" presStyleIdx="0" presStyleCnt="6">
        <dgm:presLayoutVars>
          <dgm:chMax val="0"/>
          <dgm:bulletEnabled/>
        </dgm:presLayoutVars>
      </dgm:prSet>
      <dgm:spPr/>
    </dgm:pt>
    <dgm:pt modelId="{41E56913-B93E-4CC2-B8C6-5DA81AF56D15}" type="pres">
      <dgm:prSet presAssocID="{35A36375-31D9-424E-98DE-957709F06749}" presName="Description" presStyleLbl="revTx" presStyleIdx="1" presStyleCnt="6">
        <dgm:presLayoutVars>
          <dgm:bulletEnabled/>
        </dgm:presLayoutVars>
      </dgm:prSet>
      <dgm:spPr/>
    </dgm:pt>
    <dgm:pt modelId="{2D12213F-5E1F-4E44-96FD-9078DB77FC70}" type="pres">
      <dgm:prSet presAssocID="{FB0E072F-31C2-4FB1-BE8D-6F845BF088DA}" presName="sibTrans" presStyleLbl="sibTrans2D1" presStyleIdx="0" presStyleCnt="0"/>
      <dgm:spPr/>
    </dgm:pt>
    <dgm:pt modelId="{15A37D87-DCE5-498A-941C-490FEBFB43FF}" type="pres">
      <dgm:prSet presAssocID="{0D9494A0-C462-460B-8879-BF40229EF2A9}" presName="Composite" presStyleCnt="0"/>
      <dgm:spPr/>
    </dgm:pt>
    <dgm:pt modelId="{2AF18E6C-FF35-40A0-B914-883B424D24AF}" type="pres">
      <dgm:prSet presAssocID="{0D9494A0-C462-460B-8879-BF40229EF2A9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51" b="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Formulário de votação com envelopes de correspondência por perto e pausado à mão acima do papel, escolhendo o que riscar. O foco está na área &quot;Eleição Geral Oficial&quot; do título do formulário. Foto tirada em Gainesville, Flórida. Nikon D750 com lente macro Nikon 200mm"/>
        </a:ext>
      </dgm:extLst>
    </dgm:pt>
    <dgm:pt modelId="{C5F316C6-44ED-4E07-A4FB-514B8DD180A2}" type="pres">
      <dgm:prSet presAssocID="{0D9494A0-C462-460B-8879-BF40229EF2A9}" presName="Subtitle" presStyleLbl="revTx" presStyleIdx="2" presStyleCnt="6">
        <dgm:presLayoutVars>
          <dgm:chMax val="0"/>
          <dgm:bulletEnabled/>
        </dgm:presLayoutVars>
      </dgm:prSet>
      <dgm:spPr/>
    </dgm:pt>
    <dgm:pt modelId="{892E2EB7-F2D0-4C45-8BA5-82BE758DC8F2}" type="pres">
      <dgm:prSet presAssocID="{0D9494A0-C462-460B-8879-BF40229EF2A9}" presName="Description" presStyleLbl="revTx" presStyleIdx="3" presStyleCnt="6">
        <dgm:presLayoutVars>
          <dgm:bulletEnabled/>
        </dgm:presLayoutVars>
      </dgm:prSet>
      <dgm:spPr/>
    </dgm:pt>
    <dgm:pt modelId="{7DA58B08-FA76-4804-B847-7BE6D1B27F10}" type="pres">
      <dgm:prSet presAssocID="{B5FFDC01-EEFC-41A7-A3EF-779933BE3A23}" presName="sibTrans" presStyleLbl="sibTrans2D1" presStyleIdx="0" presStyleCnt="0"/>
      <dgm:spPr/>
    </dgm:pt>
    <dgm:pt modelId="{6983C71B-5FA4-491B-9C2B-513F764F0BFC}" type="pres">
      <dgm:prSet presAssocID="{8AC62050-4352-4B05-BCF0-780D79C44D07}" presName="Composite" presStyleCnt="0"/>
      <dgm:spPr/>
    </dgm:pt>
    <dgm:pt modelId="{600E8881-A832-476C-9823-BA807505EE60}" type="pres">
      <dgm:prSet presAssocID="{8AC62050-4352-4B05-BCF0-780D79C44D07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r="18063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Uma imagem de uma radiação eletromagnética"/>
        </a:ext>
      </dgm:extLst>
    </dgm:pt>
    <dgm:pt modelId="{CA2F1A7A-3451-412B-99F2-478EA2A3E277}" type="pres">
      <dgm:prSet presAssocID="{8AC62050-4352-4B05-BCF0-780D79C44D07}" presName="Subtitle" presStyleLbl="revTx" presStyleIdx="4" presStyleCnt="6">
        <dgm:presLayoutVars>
          <dgm:chMax val="0"/>
          <dgm:bulletEnabled/>
        </dgm:presLayoutVars>
      </dgm:prSet>
      <dgm:spPr/>
    </dgm:pt>
    <dgm:pt modelId="{3B1ED164-038B-4B61-A493-235FE8154EF8}" type="pres">
      <dgm:prSet presAssocID="{8AC62050-4352-4B05-BCF0-780D79C44D07}" presName="Description" presStyleLbl="revTx" presStyleIdx="5" presStyleCnt="6">
        <dgm:presLayoutVars>
          <dgm:bulletEnabled/>
        </dgm:presLayoutVars>
      </dgm:prSet>
      <dgm:spPr/>
    </dgm:pt>
  </dgm:ptLst>
  <dgm:cxnLst>
    <dgm:cxn modelId="{5A743311-2F20-454A-847F-1C3358BD898B}" type="presOf" srcId="{12454DF0-D74D-47B1-BB7D-2F0FC25C5F46}" destId="{396653E3-6551-4A22-90CE-0CEBEDF2048F}" srcOrd="0" destOrd="0" presId="urn:microsoft.com/office/officeart/2024/3/layout/verticalVisualTextBlock1"/>
    <dgm:cxn modelId="{294FC024-9DC3-4799-A680-552184683C18}" type="presOf" srcId="{FB0E072F-31C2-4FB1-BE8D-6F845BF088DA}" destId="{2D12213F-5E1F-4E44-96FD-9078DB77FC70}" srcOrd="0" destOrd="0" presId="urn:microsoft.com/office/officeart/2024/3/layout/verticalVisualTextBlock1"/>
    <dgm:cxn modelId="{3E6F3726-EDB9-4BE5-AE7E-DDED92F95CAD}" type="presOf" srcId="{0A5A693A-AF09-4BC9-91E5-F31DE8D8B566}" destId="{892E2EB7-F2D0-4C45-8BA5-82BE758DC8F2}" srcOrd="0" destOrd="0" presId="urn:microsoft.com/office/officeart/2024/3/layout/verticalVisualTextBlock1"/>
    <dgm:cxn modelId="{08111132-FD8C-4A66-9DEC-C6E64DAAF536}" srcId="{12454DF0-D74D-47B1-BB7D-2F0FC25C5F46}" destId="{0D9494A0-C462-460B-8879-BF40229EF2A9}" srcOrd="1" destOrd="0" parTransId="{7D1434E2-F952-4181-875E-6F17BF0C5E10}" sibTransId="{B5FFDC01-EEFC-41A7-A3EF-779933BE3A23}"/>
    <dgm:cxn modelId="{763D8F32-3449-4724-B75D-1317F8CA9797}" type="presOf" srcId="{B5FFDC01-EEFC-41A7-A3EF-779933BE3A23}" destId="{7DA58B08-FA76-4804-B847-7BE6D1B27F10}" srcOrd="0" destOrd="0" presId="urn:microsoft.com/office/officeart/2024/3/layout/verticalVisualTextBlock1"/>
    <dgm:cxn modelId="{CC824938-AA66-40D1-B101-3E6D910CAFB0}" type="presOf" srcId="{6CEF6C6C-6E83-4488-8F61-A5EDB9CFFC40}" destId="{3B1ED164-038B-4B61-A493-235FE8154EF8}" srcOrd="0" destOrd="0" presId="urn:microsoft.com/office/officeart/2024/3/layout/verticalVisualTextBlock1"/>
    <dgm:cxn modelId="{0B33535B-83B9-4D83-9DCE-3BAC44F5A96A}" srcId="{35A36375-31D9-424E-98DE-957709F06749}" destId="{18AE03BF-952E-4C43-A0A6-A8318301C5DF}" srcOrd="0" destOrd="0" parTransId="{9FB4EDDA-6A5C-42D7-9C8A-D3210E6EA423}" sibTransId="{60D709B4-58C4-47F3-BEF8-8E8507620C76}"/>
    <dgm:cxn modelId="{C0C3FA41-FB09-4DCC-905D-4CE29D200611}" type="presOf" srcId="{8AC62050-4352-4B05-BCF0-780D79C44D07}" destId="{CA2F1A7A-3451-412B-99F2-478EA2A3E277}" srcOrd="0" destOrd="0" presId="urn:microsoft.com/office/officeart/2024/3/layout/verticalVisualTextBlock1"/>
    <dgm:cxn modelId="{95299242-1418-4185-B9BC-B4B2460AD42D}" type="presOf" srcId="{35A36375-31D9-424E-98DE-957709F06749}" destId="{F0498FBC-FD11-4447-AB8A-76DC52CC4B29}" srcOrd="0" destOrd="0" presId="urn:microsoft.com/office/officeart/2024/3/layout/verticalVisualTextBlock1"/>
    <dgm:cxn modelId="{CF8F364B-32CE-4ACB-A44C-72E070A1E13A}" srcId="{12454DF0-D74D-47B1-BB7D-2F0FC25C5F46}" destId="{8AC62050-4352-4B05-BCF0-780D79C44D07}" srcOrd="2" destOrd="0" parTransId="{24EC75A1-5255-4E0F-8FE4-4BEDD09B3AE5}" sibTransId="{65D57E70-EC59-4EFE-83F2-BBC6A8D2CC49}"/>
    <dgm:cxn modelId="{0425F398-09E0-42D7-A20B-EE0E610FEC35}" type="presOf" srcId="{18AE03BF-952E-4C43-A0A6-A8318301C5DF}" destId="{41E56913-B93E-4CC2-B8C6-5DA81AF56D15}" srcOrd="0" destOrd="0" presId="urn:microsoft.com/office/officeart/2024/3/layout/verticalVisualTextBlock1"/>
    <dgm:cxn modelId="{D3C2EDB8-912A-45B8-9199-1FCE6EA9AF1A}" srcId="{0D9494A0-C462-460B-8879-BF40229EF2A9}" destId="{0A5A693A-AF09-4BC9-91E5-F31DE8D8B566}" srcOrd="0" destOrd="0" parTransId="{72D44FC4-3924-4738-A9C4-906DFB9382A8}" sibTransId="{FB9E0B05-0E7C-48D6-AB32-4488421330F7}"/>
    <dgm:cxn modelId="{96E289BD-9E2D-44DD-BA86-183F6633E5DC}" type="presOf" srcId="{0D9494A0-C462-460B-8879-BF40229EF2A9}" destId="{C5F316C6-44ED-4E07-A4FB-514B8DD180A2}" srcOrd="0" destOrd="0" presId="urn:microsoft.com/office/officeart/2024/3/layout/verticalVisualTextBlock1"/>
    <dgm:cxn modelId="{55A842C8-6411-4C80-8FAE-65D6F13254DC}" srcId="{12454DF0-D74D-47B1-BB7D-2F0FC25C5F46}" destId="{35A36375-31D9-424E-98DE-957709F06749}" srcOrd="0" destOrd="0" parTransId="{8FD95270-9075-4FE3-8C15-C1526E8341B5}" sibTransId="{FB0E072F-31C2-4FB1-BE8D-6F845BF088DA}"/>
    <dgm:cxn modelId="{8A45F6F1-7493-4845-BB66-B7C29110629C}" srcId="{8AC62050-4352-4B05-BCF0-780D79C44D07}" destId="{6CEF6C6C-6E83-4488-8F61-A5EDB9CFFC40}" srcOrd="0" destOrd="0" parTransId="{63C2008C-3BD7-4C0A-B578-82785AE39776}" sibTransId="{4244E457-6AD6-4B25-A8AE-7BD7D92E5A7F}"/>
    <dgm:cxn modelId="{E684FF38-1E2C-4D4F-A6C3-92DFE227508F}" type="presParOf" srcId="{396653E3-6551-4A22-90CE-0CEBEDF2048F}" destId="{9603C698-D3EB-410E-99B8-C0373F7C5D84}" srcOrd="0" destOrd="0" presId="urn:microsoft.com/office/officeart/2024/3/layout/verticalVisualTextBlock1"/>
    <dgm:cxn modelId="{A4657601-28B1-413A-87F0-A2D007D8DCB5}" type="presParOf" srcId="{9603C698-D3EB-410E-99B8-C0373F7C5D84}" destId="{26A417F8-0A78-475F-BF52-86A367080366}" srcOrd="0" destOrd="0" presId="urn:microsoft.com/office/officeart/2024/3/layout/verticalVisualTextBlock1"/>
    <dgm:cxn modelId="{67968C14-63EF-4463-84D9-E94735A868F7}" type="presParOf" srcId="{9603C698-D3EB-410E-99B8-C0373F7C5D84}" destId="{F0498FBC-FD11-4447-AB8A-76DC52CC4B29}" srcOrd="1" destOrd="0" presId="urn:microsoft.com/office/officeart/2024/3/layout/verticalVisualTextBlock1"/>
    <dgm:cxn modelId="{8561342A-5541-4150-A680-8A961021B4E5}" type="presParOf" srcId="{9603C698-D3EB-410E-99B8-C0373F7C5D84}" destId="{41E56913-B93E-4CC2-B8C6-5DA81AF56D15}" srcOrd="2" destOrd="0" presId="urn:microsoft.com/office/officeart/2024/3/layout/verticalVisualTextBlock1"/>
    <dgm:cxn modelId="{60DB3194-D952-4E78-BFC6-41FBDCE98F75}" type="presParOf" srcId="{396653E3-6551-4A22-90CE-0CEBEDF2048F}" destId="{2D12213F-5E1F-4E44-96FD-9078DB77FC70}" srcOrd="1" destOrd="0" presId="urn:microsoft.com/office/officeart/2024/3/layout/verticalVisualTextBlock1"/>
    <dgm:cxn modelId="{239CBCE8-89AC-40FB-9AEB-C4138C5C069D}" type="presParOf" srcId="{396653E3-6551-4A22-90CE-0CEBEDF2048F}" destId="{15A37D87-DCE5-498A-941C-490FEBFB43FF}" srcOrd="2" destOrd="0" presId="urn:microsoft.com/office/officeart/2024/3/layout/verticalVisualTextBlock1"/>
    <dgm:cxn modelId="{08F828D8-4C9B-477A-839C-DD5E5BCFEE31}" type="presParOf" srcId="{15A37D87-DCE5-498A-941C-490FEBFB43FF}" destId="{2AF18E6C-FF35-40A0-B914-883B424D24AF}" srcOrd="0" destOrd="0" presId="urn:microsoft.com/office/officeart/2024/3/layout/verticalVisualTextBlock1"/>
    <dgm:cxn modelId="{F8E5FF75-BC4E-4AC5-A5A9-EDE5CD131FCA}" type="presParOf" srcId="{15A37D87-DCE5-498A-941C-490FEBFB43FF}" destId="{C5F316C6-44ED-4E07-A4FB-514B8DD180A2}" srcOrd="1" destOrd="0" presId="urn:microsoft.com/office/officeart/2024/3/layout/verticalVisualTextBlock1"/>
    <dgm:cxn modelId="{276A49EB-7302-4694-8EEC-57DFC2C41CEE}" type="presParOf" srcId="{15A37D87-DCE5-498A-941C-490FEBFB43FF}" destId="{892E2EB7-F2D0-4C45-8BA5-82BE758DC8F2}" srcOrd="2" destOrd="0" presId="urn:microsoft.com/office/officeart/2024/3/layout/verticalVisualTextBlock1"/>
    <dgm:cxn modelId="{95C09C2D-7D11-4381-86EA-BCECE89A9369}" type="presParOf" srcId="{396653E3-6551-4A22-90CE-0CEBEDF2048F}" destId="{7DA58B08-FA76-4804-B847-7BE6D1B27F10}" srcOrd="3" destOrd="0" presId="urn:microsoft.com/office/officeart/2024/3/layout/verticalVisualTextBlock1"/>
    <dgm:cxn modelId="{2F393ED7-6C39-41BD-BA1E-B45967D42F4B}" type="presParOf" srcId="{396653E3-6551-4A22-90CE-0CEBEDF2048F}" destId="{6983C71B-5FA4-491B-9C2B-513F764F0BFC}" srcOrd="4" destOrd="0" presId="urn:microsoft.com/office/officeart/2024/3/layout/verticalVisualTextBlock1"/>
    <dgm:cxn modelId="{D512E602-AB74-403F-9CE0-71AE99E56ED6}" type="presParOf" srcId="{6983C71B-5FA4-491B-9C2B-513F764F0BFC}" destId="{600E8881-A832-476C-9823-BA807505EE60}" srcOrd="0" destOrd="0" presId="urn:microsoft.com/office/officeart/2024/3/layout/verticalVisualTextBlock1"/>
    <dgm:cxn modelId="{6953F6D6-5200-47E2-9E05-700468351379}" type="presParOf" srcId="{6983C71B-5FA4-491B-9C2B-513F764F0BFC}" destId="{CA2F1A7A-3451-412B-99F2-478EA2A3E277}" srcOrd="1" destOrd="0" presId="urn:microsoft.com/office/officeart/2024/3/layout/verticalVisualTextBlock1"/>
    <dgm:cxn modelId="{A513B747-1914-4FE4-8BF6-D639CCB6E4F8}" type="presParOf" srcId="{6983C71B-5FA4-491B-9C2B-513F764F0BFC}" destId="{3B1ED164-038B-4B61-A493-235FE8154EF8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B4446-E103-4FA8-BD98-76F294739BC3}">
      <dsp:nvSpPr>
        <dsp:cNvPr id="0" name=""/>
        <dsp:cNvSpPr/>
      </dsp:nvSpPr>
      <dsp:spPr>
        <a:xfrm>
          <a:off x="0" y="0"/>
          <a:ext cx="1854553" cy="1854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r="4093" b="8"/>
          <a:stretch>
            <a:fillRect l="-2000" r="-2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881804-215E-4DE5-AADA-DE7A5C25FEFF}">
      <dsp:nvSpPr>
        <dsp:cNvPr id="0" name=""/>
        <dsp:cNvSpPr/>
      </dsp:nvSpPr>
      <dsp:spPr>
        <a:xfrm>
          <a:off x="2034553" y="0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Definição de Taxa de Variação</a:t>
          </a:r>
        </a:p>
      </dsp:txBody>
      <dsp:txXfrm>
        <a:off x="2034553" y="0"/>
        <a:ext cx="4155226" cy="370034"/>
      </dsp:txXfrm>
    </dsp:sp>
    <dsp:sp modelId="{8254DB17-A633-4C09-B4E1-E97A4EE439FF}">
      <dsp:nvSpPr>
        <dsp:cNvPr id="0" name=""/>
        <dsp:cNvSpPr/>
      </dsp:nvSpPr>
      <dsp:spPr>
        <a:xfrm>
          <a:off x="2034553" y="370034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 taxa de variação mostra como uma variável muda em relação à outra, destacando uma relação proporcional.</a:t>
          </a:r>
        </a:p>
      </dsp:txBody>
      <dsp:txXfrm>
        <a:off x="2034553" y="370034"/>
        <a:ext cx="4155226" cy="1484518"/>
      </dsp:txXfrm>
    </dsp:sp>
    <dsp:sp modelId="{02E2ED2C-6F45-41B7-9FF6-87F39182EFEC}">
      <dsp:nvSpPr>
        <dsp:cNvPr id="0" name=""/>
        <dsp:cNvSpPr/>
      </dsp:nvSpPr>
      <dsp:spPr>
        <a:xfrm>
          <a:off x="0" y="2002917"/>
          <a:ext cx="1854553" cy="185455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1" r="-5" b="20285"/>
          <a:stretch>
            <a:fillRect t="-17000" b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CA2053-711C-4D4D-BE07-E5086ABF847B}">
      <dsp:nvSpPr>
        <dsp:cNvPr id="0" name=""/>
        <dsp:cNvSpPr/>
      </dsp:nvSpPr>
      <dsp:spPr>
        <a:xfrm>
          <a:off x="2034553" y="2002917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Exemplo Prático</a:t>
          </a:r>
        </a:p>
      </dsp:txBody>
      <dsp:txXfrm>
        <a:off x="2034553" y="2002917"/>
        <a:ext cx="4155226" cy="370034"/>
      </dsp:txXfrm>
    </dsp:sp>
    <dsp:sp modelId="{BB64617D-64A2-41DD-B11A-1C26D454BEA6}">
      <dsp:nvSpPr>
        <dsp:cNvPr id="0" name=""/>
        <dsp:cNvSpPr/>
      </dsp:nvSpPr>
      <dsp:spPr>
        <a:xfrm>
          <a:off x="2034553" y="2372952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Se o combustível aumenta R$5 a cada 10 km, a taxa é de R$0,50 por km. Esse valor representa a mudança média por unidade.</a:t>
          </a:r>
        </a:p>
      </dsp:txBody>
      <dsp:txXfrm>
        <a:off x="2034553" y="2372952"/>
        <a:ext cx="4155226" cy="1484518"/>
      </dsp:txXfrm>
    </dsp:sp>
    <dsp:sp modelId="{118EED17-2271-45B7-8606-0B90259337F3}">
      <dsp:nvSpPr>
        <dsp:cNvPr id="0" name=""/>
        <dsp:cNvSpPr/>
      </dsp:nvSpPr>
      <dsp:spPr>
        <a:xfrm>
          <a:off x="0" y="4005834"/>
          <a:ext cx="1854553" cy="1854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0" r="1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14BB28-C0D3-4816-843B-894504BD20FB}">
      <dsp:nvSpPr>
        <dsp:cNvPr id="0" name=""/>
        <dsp:cNvSpPr/>
      </dsp:nvSpPr>
      <dsp:spPr>
        <a:xfrm>
          <a:off x="2034553" y="4005834"/>
          <a:ext cx="4155226" cy="37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Inclinação da Reta no Gráfico</a:t>
          </a:r>
        </a:p>
      </dsp:txBody>
      <dsp:txXfrm>
        <a:off x="2034553" y="4005834"/>
        <a:ext cx="4155226" cy="370034"/>
      </dsp:txXfrm>
    </dsp:sp>
    <dsp:sp modelId="{A71BB6D6-8122-4C97-B01B-C6A3ECBB0A37}">
      <dsp:nvSpPr>
        <dsp:cNvPr id="0" name=""/>
        <dsp:cNvSpPr/>
      </dsp:nvSpPr>
      <dsp:spPr>
        <a:xfrm>
          <a:off x="2034553" y="4375869"/>
          <a:ext cx="4155226" cy="148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No gráfico, a taxa de variação é representada pela inclinação da reta, mostrando o ritmo da mudança.</a:t>
          </a:r>
        </a:p>
      </dsp:txBody>
      <dsp:txXfrm>
        <a:off x="2034553" y="4375869"/>
        <a:ext cx="4155226" cy="1484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417F8-0A78-475F-BF52-86A367080366}">
      <dsp:nvSpPr>
        <dsp:cNvPr id="0" name=""/>
        <dsp:cNvSpPr/>
      </dsp:nvSpPr>
      <dsp:spPr>
        <a:xfrm>
          <a:off x="0" y="0"/>
          <a:ext cx="1013476" cy="1013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7" r="33120" b="-6"/>
          <a:stretch>
            <a:fillRect l="-39000" r="-39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498FBC-FD11-4447-AB8A-76DC52CC4B29}">
      <dsp:nvSpPr>
        <dsp:cNvPr id="0" name=""/>
        <dsp:cNvSpPr/>
      </dsp:nvSpPr>
      <dsp:spPr>
        <a:xfrm>
          <a:off x="1193476" y="0"/>
          <a:ext cx="1831826" cy="558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Definição de Valor Fixo</a:t>
          </a:r>
        </a:p>
      </dsp:txBody>
      <dsp:txXfrm>
        <a:off x="1193476" y="0"/>
        <a:ext cx="1831826" cy="558589"/>
      </dsp:txXfrm>
    </dsp:sp>
    <dsp:sp modelId="{41E56913-B93E-4CC2-B8C6-5DA81AF56D15}">
      <dsp:nvSpPr>
        <dsp:cNvPr id="0" name=""/>
        <dsp:cNvSpPr/>
      </dsp:nvSpPr>
      <dsp:spPr>
        <a:xfrm>
          <a:off x="1193476" y="558589"/>
          <a:ext cx="1831826" cy="119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O valor fixo é o termo constante da função, representando o resultado quando x é igual a zero.</a:t>
          </a:r>
        </a:p>
      </dsp:txBody>
      <dsp:txXfrm>
        <a:off x="1193476" y="558589"/>
        <a:ext cx="1831826" cy="1196214"/>
      </dsp:txXfrm>
    </dsp:sp>
    <dsp:sp modelId="{2AF18E6C-FF35-40A0-B914-883B424D24AF}">
      <dsp:nvSpPr>
        <dsp:cNvPr id="0" name=""/>
        <dsp:cNvSpPr/>
      </dsp:nvSpPr>
      <dsp:spPr>
        <a:xfrm>
          <a:off x="0" y="1895188"/>
          <a:ext cx="1013476" cy="101347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51" b="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F316C6-44ED-4E07-A4FB-514B8DD180A2}">
      <dsp:nvSpPr>
        <dsp:cNvPr id="0" name=""/>
        <dsp:cNvSpPr/>
      </dsp:nvSpPr>
      <dsp:spPr>
        <a:xfrm>
          <a:off x="1193476" y="1895188"/>
          <a:ext cx="1831826" cy="314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Exemplo Prático</a:t>
          </a:r>
        </a:p>
      </dsp:txBody>
      <dsp:txXfrm>
        <a:off x="1193476" y="1895188"/>
        <a:ext cx="1831826" cy="314792"/>
      </dsp:txXfrm>
    </dsp:sp>
    <dsp:sp modelId="{892E2EB7-F2D0-4C45-8BA5-82BE758DC8F2}">
      <dsp:nvSpPr>
        <dsp:cNvPr id="0" name=""/>
        <dsp:cNvSpPr/>
      </dsp:nvSpPr>
      <dsp:spPr>
        <a:xfrm>
          <a:off x="1193476" y="2209981"/>
          <a:ext cx="1831826" cy="1440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Em contas telefônicas, existe uma taxa mensal fixa além do valor variável pelo uso.</a:t>
          </a:r>
        </a:p>
      </dsp:txBody>
      <dsp:txXfrm>
        <a:off x="1193476" y="2209981"/>
        <a:ext cx="1831826" cy="1440010"/>
      </dsp:txXfrm>
    </dsp:sp>
    <dsp:sp modelId="{600E8881-A832-476C-9823-BA807505EE60}">
      <dsp:nvSpPr>
        <dsp:cNvPr id="0" name=""/>
        <dsp:cNvSpPr/>
      </dsp:nvSpPr>
      <dsp:spPr>
        <a:xfrm>
          <a:off x="0" y="3790376"/>
          <a:ext cx="1013476" cy="1013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r="18063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2F1A7A-3451-412B-99F2-478EA2A3E277}">
      <dsp:nvSpPr>
        <dsp:cNvPr id="0" name=""/>
        <dsp:cNvSpPr/>
      </dsp:nvSpPr>
      <dsp:spPr>
        <a:xfrm>
          <a:off x="1193476" y="3790376"/>
          <a:ext cx="1831826" cy="558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Interpretação no Gráfico</a:t>
          </a:r>
        </a:p>
      </dsp:txBody>
      <dsp:txXfrm>
        <a:off x="1193476" y="3790376"/>
        <a:ext cx="1831826" cy="558589"/>
      </dsp:txXfrm>
    </dsp:sp>
    <dsp:sp modelId="{3B1ED164-038B-4B61-A493-235FE8154EF8}">
      <dsp:nvSpPr>
        <dsp:cNvPr id="0" name=""/>
        <dsp:cNvSpPr/>
      </dsp:nvSpPr>
      <dsp:spPr>
        <a:xfrm>
          <a:off x="1193476" y="4348966"/>
          <a:ext cx="1831826" cy="1196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No gráfico, o valor fixo aparece onde a reta cruza o eixo y, indicando o intercepto.</a:t>
          </a:r>
        </a:p>
      </dsp:txBody>
      <dsp:txXfrm>
        <a:off x="1193476" y="4348966"/>
        <a:ext cx="1831826" cy="1196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345DE-5BD6-4191-BFCC-7639067995CC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BE743-35C8-4708-81C1-E1CFA0E519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5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A função do 1º grau aparece em situações cotidianas como cálculo de despesas, previsões e planejamento financeiro. Ela permite identificar relações lineares, como o preço de produtos que varia conforme a quantidade. Compreender essa função ajuda a resolver problemas práticos, conectando a matemática à vida real.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79588-021F-4B29-B1F6-E0082A97807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38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A turma é composta por 30 estudantes focados em desenvolver o pensamento algébrico. O uso de IA tem possibilitado novas formas de visualização de conceitos matemáticos, tornando as aulas mais dinâmicas. Além disso, a tecnologia incentiva maior engajamento dos alunos, promovendo participação ativa e colaborativa.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26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Compreender a estrutura da função do 1º grau f(x)=ax+b, identificando sua forma e aplicação. Reconhecer o significado dos coeficientes 'a' (inclinação da reta) e 'b' (termo constante). Construir e interpretar gráficos, aplicando esses conhecimentos para resolver problemas práticos do cotidiano.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436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A rubrica avalia quatro critérios principais: identificação, compreensão dos coeficientes, construção de gráfico e resolução de problemas. Os níveis de desempenho são: Excelente, Bom e Em desenvolvimento. A tabela apresenta um resumo, facilitando a análise dos pontos fortes e áreas para aprimoramento em cada critério.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90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A função do 1º grau relaciona diretamente duas variáveis, como no exemplo da corrida de táxi: f(x) = ax + b, onde 'a' representa o valor por km e 'b' a taxa inicial. Esse conceito permite prever custos de serviços e interpretar gráficos, facilitando decisões práticas no dia a dia.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46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A taxa de variação indica quanto uma variável muda a cada unidade da outra, revelando uma relação direta. Por exemplo, se o combustível aumenta R$5 a cada 10 km, a taxa é de R$0,50 por km. No gráfico, essa taxa corresponde à inclinação da reta, mostrando o ritmo da mudança.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467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O valor fixo (termo constante) representa o resultado da função quando x = 0, indicando o que não depende da variação da outra grandeza. Exemplo: em contas de telefone, existe uma taxa fixa mensal além do valor proporcional ao uso. No gráfico, o valor fixo é o intercepto, onde a reta cruza o eixo y.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902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Exercícios incluem múltipla escolha para identificar taxa de variação e valor fixo. Na resposta aberta, explica-se a taxa de variação com exemplos do cotidiano, como velocidade e crescimento populacional. Interpretação gráfica envolve localizar o valor fixo em gráficos. O gabarito está disponível para facilitar a correção.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28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Origem da imagem: biblioteca de conteúdos do Microsoft 365
Para alunos com dificuldade de leitura, utilize linguagem simples, apoio visual e avalie de modo processual. Para alunos avançados, proponha desafios, incentive autonomia e avalie por rubrica. Essas adaptações promovem acesso e equidade, alinhando-se ao Princípio do Desenho Universal para Aprendizagem (DUA).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BE743-35C8-4708-81C1-E1CFA0E5199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697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E49B5-303E-C5F1-9B39-97DFE8957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A7DA9-5F7F-C5AF-51D3-1FD24E47E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623133-7382-AF4E-4593-F1ECF745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ECA3AB-4845-DB01-4AC7-98F2362D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904319-4867-D3DA-8183-4BD0EDEE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15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690D1-7C1C-2985-A711-1216C568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D735FE-938C-C956-BAE2-6EADE0D97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E00CC4-2A19-D3BD-1F00-71A3D379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18B694-A44A-8725-E2EA-15C4C227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AB9FEA-8239-0772-472C-959528BF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57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08730-0D4C-A6D7-4CC4-21C1AFB2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F5E068-8791-29EB-88E9-A80A75DC8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DC8DA3-8792-E147-4E67-90AC1EB2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D60F6F-75A9-092C-5691-49B0A7DF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21A750-05D9-089B-DFAC-0C805CD7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80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33AA4-53A1-C80A-A306-75C08AC5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086A3-2042-FD45-9369-77FB5785B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695932-4355-03AA-7DE8-7870316FC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079729-4324-268B-E5C7-A7FD1D30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4F7CA5-57CC-0639-17B8-B4056860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84AA45-B3AC-AB69-1DC8-04139F5A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07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DF573-413D-6B2A-EB2B-2A4BEB8EE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B30888-C00F-8572-926D-0B18A4092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CDDED0-2938-CB3D-F927-3A07CBB89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3F7450-3EB1-13C4-A70C-214A88C04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379178-43F3-5C2C-8652-8C4B1B14A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B4521-9994-45EB-9E2F-D9705790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4A23A0-69F9-3B72-06DE-6B72DA49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44D0D3-8C10-9444-FDE6-230A5063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07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07C44-9236-54BE-FA6A-1143E83F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98E332-C0A5-75D6-348C-E238793D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109928-E6F1-E7D6-B5D3-3EC418DF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F06D7C7-14F5-4B56-EB56-E400AB01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77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C3715C-4607-36F5-C343-3711FEA9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01D97E-D1F0-91DB-6F3A-E147F28F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FA8C84-2C58-8F70-D4F9-6AB35B50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26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E62D6-B622-AE5E-4D1E-AA4ED107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6D26A-61D3-4153-3573-33C3ABDB6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2E83D6-B541-3051-9138-B898B0DAC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39D236-1665-5717-14DA-0DF974B9B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4386B5-1F7E-22C9-D3C0-CC2643BD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92CA66-C7C0-B370-7561-6512457B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95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15E71-21F0-C106-2D0F-1F4D746C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AC64A-FE23-E0E6-9A96-C39AD54FE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8DDC58-7ECF-80CE-9DBB-E07136227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98ADFA-18D8-FEB2-2222-25FB4098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AD1AE-ED16-97F7-D265-2D20E65D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BBD339-9132-CB1A-7A2D-74A5BF10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90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66585-661A-98F0-CF83-FF27E0CF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102066-C779-B8BD-34FE-F27ABC97D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68B5E-60C7-DABD-3957-6822975D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8F4A4-C808-42AE-4727-821A90F4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A94BB-F611-9AE3-2028-BD5425E9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47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80DD96-A6D4-8CE3-0F36-77D564E05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92DA5F-A3D1-9BDE-8218-89A088046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BC88D-3B79-4B0C-285D-B5477C57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107BC9-0507-FB16-69B8-24858596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703153-7100-FFCD-5864-4BDE7327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62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D29D1A-3679-A77F-8DEF-71BD559FC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A01A98-F30B-1976-0F20-979EA617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99CE56-A16E-9691-8521-3D04DC9F2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6191C-938F-41F2-A19D-BD8364586206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26B11B-6B83-CCBF-8ECD-376FAF783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17FE81-F887-9F50-EEB1-5674B70E3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D3B36-4067-4AE0-85D5-666315AC95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7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F88B2B-03F9-1EA0-97D9-C0EE5D3D6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pt-PT" dirty="0"/>
              <a:t>Função do 1º Grau e o Cotidiano.</a:t>
            </a:r>
            <a:endParaRPr lang="pt-BR" sz="6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8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A5A95C-66CB-12B6-C660-E6BFEE10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Função do 1º Grau no Dia a Dia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CB79B4-B722-0BFF-2260-F4B3631F2B5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Cálculo de Despesas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função do 1º grau auxilia no cálculo de despesas do dia a dia, como contas e compras, mostrando relações diretas entre valor e quantidade.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Previsões e Planejamento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Ela é usada para fazer previsões financeiras e planejar gastos, ajudando a organizar o orçamento familiar ou pessoal de forma eficiente.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Relações Lineares no Cotidiano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função do 1º grau permite entender situações como o preço de produtos aumentando conforme a quantidade comprada, facilitando decisões práticas.</a:t>
            </a:r>
          </a:p>
        </p:txBody>
      </p:sp>
      <p:pic>
        <p:nvPicPr>
          <p:cNvPr id="5" name="Espaço Reservado para Conteúdo 4" descr="Homem asiático usando o computador para internet banking">
            <a:extLst>
              <a:ext uri="{FF2B5EF4-FFF2-40B4-BE49-F238E27FC236}">
                <a16:creationId xmlns:a16="http://schemas.microsoft.com/office/drawing/2014/main" id="{68F6DC46-76D9-48FD-A8B0-DA96525E72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513" r="31450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6071538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Um grupo de funcionários está se reunindo sobre arquitetura. Conceito de mulheres em STEM">
            <a:extLst>
              <a:ext uri="{FF2B5EF4-FFF2-40B4-BE49-F238E27FC236}">
                <a16:creationId xmlns:a16="http://schemas.microsoft.com/office/drawing/2014/main" id="{5B13B605-E817-4012-8216-88200C3D5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106" r="3777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B884FF-92AA-4BC0-26E4-5C94FD91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Consolidando pensamento algébrico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D6A4F7-8FA0-8853-A051-F3E50446E1D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Desenvolvimento do Pensamento Algébrico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Os estudantes estão focados em compreender e aplicar conceitos algébricos, fortalecendo a base matemática.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Visualização com Inteligência Artificial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IA facilita novas formas de visualizar ideias matemáticas, tornando o aprendizado mais interativo e envolvente.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Engajamento e Colaboração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tecnologia estimula a participação ativa dos alunos, promovendo colaboração e troca de conhecimentos em sala.</a:t>
            </a:r>
          </a:p>
        </p:txBody>
      </p:sp>
    </p:spTree>
    <p:extLst>
      <p:ext uri="{BB962C8B-B14F-4D97-AF65-F5344CB8AC3E}">
        <p14:creationId xmlns:p14="http://schemas.microsoft.com/office/powerpoint/2010/main" val="384840476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AFDB08D-F17F-468C-BE8B-A4FC52CE04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3535" r="715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ABB38E-BE90-82C2-7746-9E3161A6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/>
              <a:t>Objetivos de Aprendizagem: Função do 1º Grau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1A06FC-E1F1-FB80-3031-1B7C4CEF26D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Estrutura da Função do 1º Grau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função do 1º grau tem a forma f(x)=ax+b, sendo fundamental para diversos contextos matemáticos e práticos.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Significado dos Coeficientes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 coeficiente 'a' indica a inclinação da reta e 'b' representa o termo constante, determinando o comportamento do gráfico.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Construção e Interpretação de Gráficos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Construir e interpretar gráficos de funções do 1º grau auxilia na resolução de problemas do cotidiano, tornando a matemática mais aplicada.</a:t>
            </a:r>
          </a:p>
        </p:txBody>
      </p:sp>
    </p:spTree>
    <p:extLst>
      <p:ext uri="{BB962C8B-B14F-4D97-AF65-F5344CB8AC3E}">
        <p14:creationId xmlns:p14="http://schemas.microsoft.com/office/powerpoint/2010/main" val="148906371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E3D32A-CFC7-C97B-8D07-0B7BD0F4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Rubrica de Avaliação Simplificada</a:t>
            </a:r>
          </a:p>
        </p:txBody>
      </p:sp>
      <p:pic>
        <p:nvPicPr>
          <p:cNvPr id="5" name="Espaço Reservado para Conteúdo 4" descr="Planeta Terra e desenho da covid-19.">
            <a:extLst>
              <a:ext uri="{FF2B5EF4-FFF2-40B4-BE49-F238E27FC236}">
                <a16:creationId xmlns:a16="http://schemas.microsoft.com/office/drawing/2014/main" id="{4084188A-9790-4C76-84A6-1F5470FE2F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3789" r="36767" b="-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F8BEB1-FF0F-F1FD-7C36-D0A43DE4B75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Critérios Avaliados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rubrica considera critérios como identificação, compreensão dos coeficientes, construção de gráfico e resolução de problemas, essenciais na avaliação.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Níveis de Desempenho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Os níveis de desempenho são classificados em Excelente, Bom e Em desenvolvimento para facilitar a análise dos resultados.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Resumo Visual da Avaliação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tabela resume os pontos fortes e áreas a melhorar em cada critério, tornando a avaliação mais clara e objetiva.</a:t>
            </a:r>
          </a:p>
        </p:txBody>
      </p:sp>
    </p:spTree>
    <p:extLst>
      <p:ext uri="{BB962C8B-B14F-4D97-AF65-F5344CB8AC3E}">
        <p14:creationId xmlns:p14="http://schemas.microsoft.com/office/powerpoint/2010/main" val="32255047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ABF1A2-3617-E22A-AE84-7F720DF1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Função Afim no Cotidiano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Corrida de cavalos, desfoque de movimento.">
            <a:extLst>
              <a:ext uri="{FF2B5EF4-FFF2-40B4-BE49-F238E27FC236}">
                <a16:creationId xmlns:a16="http://schemas.microsoft.com/office/drawing/2014/main" id="{7665A5B7-AF6E-4C83-956B-BD4CF11D0B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0396" r="16688" b="2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35024A-478E-0A3D-B555-22F6A89AAAE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05955" y="2071316"/>
            <a:ext cx="6713552" cy="41148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Relacionamento entre Variáveis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função afim conecta duas variáveis de forma direta, permitindo previsões práticas e rápidas em diversos contextos cotidianos.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Aplicação em Corridas de Táxi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A função do 1º grau é usada para calcular o custo de uma corrida de táxi, considerando o valor por quilômetro e uma taxa inicial.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Facilidade na Interpretação de Gráficos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 conceito de função afim torna a leitura de gráficos mais simples, auxiliando em decisões rápidas no cotidiano.</a:t>
            </a:r>
          </a:p>
        </p:txBody>
      </p:sp>
    </p:spTree>
    <p:extLst>
      <p:ext uri="{BB962C8B-B14F-4D97-AF65-F5344CB8AC3E}">
        <p14:creationId xmlns:p14="http://schemas.microsoft.com/office/powerpoint/2010/main" val="262573958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F445D4-2368-5F26-EEE4-B30DE7BD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Entendendo a Taxa de Variação</a:t>
            </a:r>
          </a:p>
        </p:txBody>
      </p:sp>
      <p:graphicFrame>
        <p:nvGraphicFramePr>
          <p:cNvPr id="4" name="Espaço Reservado para Conteúdo 4">
            <a:extLst>
              <a:ext uri="{FF2B5EF4-FFF2-40B4-BE49-F238E27FC236}">
                <a16:creationId xmlns:a16="http://schemas.microsoft.com/office/drawing/2014/main" id="{904004E2-2FE4-4DC2-B0AD-5ABE862F7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03459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387542" y="548639"/>
          <a:ext cx="6189780" cy="5861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081746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817680-99F8-6519-121B-36346751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4000">
                <a:solidFill>
                  <a:srgbClr val="FFFFFF"/>
                </a:solidFill>
              </a:rPr>
              <a:t>Entendendo o Valor Fixo</a:t>
            </a:r>
          </a:p>
        </p:txBody>
      </p:sp>
      <p:graphicFrame>
        <p:nvGraphicFramePr>
          <p:cNvPr id="4" name="Espaço Reservado para Conteúdo 4">
            <a:extLst>
              <a:ext uri="{FF2B5EF4-FFF2-40B4-BE49-F238E27FC236}">
                <a16:creationId xmlns:a16="http://schemas.microsoft.com/office/drawing/2014/main" id="{A066AA15-AA64-4152-9C8C-10AF0CC4B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09023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581727" y="649480"/>
          <a:ext cx="302530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503783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78FA4F-7D17-125F-9F60-3982515B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 err="1"/>
              <a:t>Explorando</a:t>
            </a:r>
            <a:r>
              <a:rPr lang="en-US" sz="5400" b="1" dirty="0"/>
              <a:t> </a:t>
            </a:r>
            <a:r>
              <a:rPr lang="en-US" sz="5400" b="1" dirty="0" err="1"/>
              <a:t>Exercícios</a:t>
            </a:r>
            <a:endParaRPr lang="en-US" sz="5400" b="1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Fórmulas matemáticas complexas em um quadro-negro">
            <a:extLst>
              <a:ext uri="{FF2B5EF4-FFF2-40B4-BE49-F238E27FC236}">
                <a16:creationId xmlns:a16="http://schemas.microsoft.com/office/drawing/2014/main" id="{12D07CC8-DFC4-465E-9DCB-14A68F0FD5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5594" r="15597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904DF4-B69E-490B-0843-D1E9EAA9FB9E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05955" y="2071316"/>
            <a:ext cx="6713552" cy="41148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Identificar Taxa de Variação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Exercícios de múltipla escolha ajudam a reconhecer e calcular a taxa de variação em diferentes situações matemáticas.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Exemplo Cotidiano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Respostas abertas usam exemplos como velocidade e crescimento populacional para explicar o conceito de taxa de variação.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Interpretação Gráfica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Os alunos aprendem a localizar o valor fixo em gráficos, reforçando a análise visual de funções matemáticas.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Facilidade na Correção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O gabarito disponível facilita a correção dos exercícios, tornando o processo mais prático para alunos e professores.</a:t>
            </a:r>
          </a:p>
        </p:txBody>
      </p:sp>
    </p:spTree>
    <p:extLst>
      <p:ext uri="{BB962C8B-B14F-4D97-AF65-F5344CB8AC3E}">
        <p14:creationId xmlns:p14="http://schemas.microsoft.com/office/powerpoint/2010/main" val="354710229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96155A-D5D9-6DFD-573A-DD1FB376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Adaptações Pedagógicas Efetivas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Prédio escolar local">
            <a:extLst>
              <a:ext uri="{FF2B5EF4-FFF2-40B4-BE49-F238E27FC236}">
                <a16:creationId xmlns:a16="http://schemas.microsoft.com/office/drawing/2014/main" id="{F06B5B59-CCF3-46E0-9BF9-63B9C38A66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5205" r="1879" b="2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AC5A52-91C1-B806-A8B2-7E5766C2EC1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05955" y="2071316"/>
            <a:ext cx="6713552" cy="41148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Apoio a Dificuldades de Leitura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Utilize linguagem simples, recursos visuais e avaliações processuais para facilitar o acesso de alunos com dificuldade de leitura.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Desafios para Alunos Avançados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Proponha atividades desafiadoras, incentive autonomia e utilize rubricas para avaliação dos alunos avançados.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400" b="1"/>
              <a:t>Promoção do Acesso e Equidade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pt-BR" sz="1400"/>
              <a:t>Essas adaptações garantem acesso equitativo e se alinham ao Desenho Universal para Aprendizagem, promovendo inclusão escolar.</a:t>
            </a:r>
          </a:p>
        </p:txBody>
      </p:sp>
    </p:spTree>
    <p:extLst>
      <p:ext uri="{BB962C8B-B14F-4D97-AF65-F5344CB8AC3E}">
        <p14:creationId xmlns:p14="http://schemas.microsoft.com/office/powerpoint/2010/main" val="35694792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1345</Words>
  <Application>Microsoft Office PowerPoint</Application>
  <PresentationFormat>Widescreen</PresentationFormat>
  <Paragraphs>84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Função do 1º Grau e o Cotidiano.</vt:lpstr>
      <vt:lpstr>Função do 1º Grau no Dia a Dia</vt:lpstr>
      <vt:lpstr>Consolidando pensamento algébrico</vt:lpstr>
      <vt:lpstr>Objetivos de Aprendizagem: Função do 1º Grau</vt:lpstr>
      <vt:lpstr>Rubrica de Avaliação Simplificada</vt:lpstr>
      <vt:lpstr>Função Afim no Cotidiano</vt:lpstr>
      <vt:lpstr>Entendendo a Taxa de Variação</vt:lpstr>
      <vt:lpstr>Entendendo o Valor Fixo</vt:lpstr>
      <vt:lpstr>Explorando Exercícios</vt:lpstr>
      <vt:lpstr>Adaptações Pedagógicas Efetivas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BARBOSA CLEMENTE</dc:creator>
  <cp:lastModifiedBy>DANIEL BARBOSA CLEMENTE</cp:lastModifiedBy>
  <cp:revision>1</cp:revision>
  <dcterms:created xsi:type="dcterms:W3CDTF">2026-01-08T14:04:01Z</dcterms:created>
  <dcterms:modified xsi:type="dcterms:W3CDTF">2026-01-08T15:02:01Z</dcterms:modified>
</cp:coreProperties>
</file>